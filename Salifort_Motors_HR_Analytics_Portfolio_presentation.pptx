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5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9741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Employee Retention Analytics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Predicting &amp; Preventing Employee Turnover at Salifort Motors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Science Capstone Project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0" y="3840480"/>
            <a:ext cx="2743200" cy="45720"/>
          </a:xfrm>
          <a:prstGeom prst="rect">
            <a:avLst/>
          </a:prstGeom>
          <a:solidFill>
            <a:srgbClr val="02809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Executive Summary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560320" cy="12801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16.6%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Turnover Rate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83280" y="1280160"/>
            <a:ext cx="2560320" cy="12801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0" y="14630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96.2%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383280" y="2103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Accuracy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280160"/>
            <a:ext cx="2560320" cy="12801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14630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14,999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6309360" y="2103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Employees Analyzed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3520440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474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Employees working on 7 projects had 100% turnover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840480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7947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Overworked employees (&gt;175 hrs/month) are at highest risk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160520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1148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4-year tenure employees show unusually low satisfaction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480560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434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evaluation score is the strongest predictor of turnover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Salifort Motors HR department collected employee data but lacked insights on retention factors.
</a:t>
            </a: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Question: </a:t>
            </a: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employees leave the company?
</a:t>
            </a: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employee turnover is costly:
</a:t>
            </a: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Recruitment expenses
• Training investments
• Lost productivity
• Knowledge drain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754880" y="12801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754880" y="1737360"/>
            <a:ext cx="3931920" cy="2743200"/>
          </a:xfrm>
          <a:prstGeom prst="rect">
            <a:avLst/>
          </a:prstGeom>
          <a:solidFill>
            <a:srgbClr val="F0F8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92024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predictive model to:
</a:t>
            </a: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employees at risk of leaving
</a:t>
            </a: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Uncover key factors driving turnover
</a:t>
            </a: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actionable recommendations for HR
</a:t>
            </a: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Impact:
</a:t>
            </a:r>
            <a:r>
              <a:rPr lang="en-US" sz="1300" i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 retention strategies &amp; cost savings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00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Dataset Overview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91540"/>
            <a:ext cx="82296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744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14,999 employees  •  10 features  •  3,008 duplicates removed (20%)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3200400" cy="32004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749040" y="1737360"/>
            <a:ext cx="4937760" cy="32004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3200400" cy="292608"/>
          </a:xfrm>
          <a:prstGeom prst="rect">
            <a:avLst/>
          </a:prstGeom>
          <a:solidFill>
            <a:srgbClr val="F9F9F9"/>
          </a:solidFill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satisfaction_level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749040" y="2057400"/>
            <a:ext cx="4937760" cy="292608"/>
          </a:xfrm>
          <a:prstGeom prst="rect">
            <a:avLst/>
          </a:prstGeom>
          <a:solidFill>
            <a:srgbClr val="F9F9F9"/>
          </a:solidFill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Employee-reported job satisfaction [0-1]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350008"/>
            <a:ext cx="320040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last_evaluation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749040" y="2350008"/>
            <a:ext cx="493776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of last performance review [0-1]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642616"/>
            <a:ext cx="3200400" cy="292608"/>
          </a:xfrm>
          <a:prstGeom prst="rect">
            <a:avLst/>
          </a:prstGeom>
          <a:solidFill>
            <a:srgbClr val="F9F9F9"/>
          </a:solidFill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number_project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49040" y="2642616"/>
            <a:ext cx="4937760" cy="292608"/>
          </a:xfrm>
          <a:prstGeom prst="rect">
            <a:avLst/>
          </a:prstGeom>
          <a:solidFill>
            <a:srgbClr val="F9F9F9"/>
          </a:solidFill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of projects employee contributes to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935224"/>
            <a:ext cx="320040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average_monthly_hours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49040" y="2935224"/>
            <a:ext cx="493776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hours worked per month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227832"/>
            <a:ext cx="3200400" cy="292608"/>
          </a:xfrm>
          <a:prstGeom prst="rect">
            <a:avLst/>
          </a:prstGeom>
          <a:solidFill>
            <a:srgbClr val="F9F9F9"/>
          </a:solidFill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tenure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49040" y="3227832"/>
            <a:ext cx="4937760" cy="292608"/>
          </a:xfrm>
          <a:prstGeom prst="rect">
            <a:avLst/>
          </a:prstGeom>
          <a:solidFill>
            <a:srgbClr val="F9F9F9"/>
          </a:solidFill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with the company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520440"/>
            <a:ext cx="320040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work_accident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49040" y="3520440"/>
            <a:ext cx="493776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Whether employee had workplace accident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813048"/>
            <a:ext cx="3200400" cy="292608"/>
          </a:xfrm>
          <a:prstGeom prst="rect">
            <a:avLst/>
          </a:prstGeom>
          <a:solidFill>
            <a:srgbClr val="F9F9F9"/>
          </a:solidFill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49040" y="3813048"/>
            <a:ext cx="4937760" cy="292608"/>
          </a:xfrm>
          <a:prstGeom prst="rect">
            <a:avLst/>
          </a:prstGeom>
          <a:solidFill>
            <a:srgbClr val="F9F9F9"/>
          </a:solidFill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variable: Did employee leave? (0/1)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105656"/>
            <a:ext cx="320040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promotion_last_5years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749040" y="4105656"/>
            <a:ext cx="493776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Promoted in last 5 years? (0/1)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398264"/>
            <a:ext cx="3200400" cy="292608"/>
          </a:xfrm>
          <a:prstGeom prst="rect">
            <a:avLst/>
          </a:prstGeom>
          <a:solidFill>
            <a:srgbClr val="F9F9F9"/>
          </a:solidFill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department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749040" y="4398264"/>
            <a:ext cx="4937760" cy="292608"/>
          </a:xfrm>
          <a:prstGeom prst="rect">
            <a:avLst/>
          </a:prstGeom>
          <a:solidFill>
            <a:srgbClr val="F9F9F9"/>
          </a:solidFill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Employee's department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690872"/>
            <a:ext cx="320040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salary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749040" y="4690872"/>
            <a:ext cx="493776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Salary level: low, medium, high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Exploratory Insights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3657600"/>
          </a:xfrm>
          <a:prstGeom prst="rect">
            <a:avLst/>
          </a:prstGeom>
          <a:solidFill>
            <a:srgbClr val="F8F9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⚠️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Overwork Crisis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377440"/>
            <a:ext cx="1828800" cy="2743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560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All 145 employees with 7 projects left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0632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Employees worked 201 hrs/month avg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5661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Normal = 167 hrs/month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0690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Peak workload: 310 hrs/month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1188720"/>
            <a:ext cx="2560320" cy="3657600"/>
          </a:xfrm>
          <a:prstGeom prst="rect">
            <a:avLst/>
          </a:prstGeom>
          <a:solidFill>
            <a:srgbClr val="F8F9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1371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📉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474720" y="1920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Satisfaction Gap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749040" y="2377440"/>
            <a:ext cx="1828800" cy="2743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3566160" y="2560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Employees who left: 0.44 avg satisfaction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66160" y="30632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Employees who stayed: 0.67 avg satisfaction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66160" y="35661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4-year employees show lowest scores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66160" y="40690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High evaluation ≠ high satisfaction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1188720"/>
            <a:ext cx="2560320" cy="3657600"/>
          </a:xfrm>
          <a:prstGeom prst="rect">
            <a:avLst/>
          </a:prstGeom>
          <a:solidFill>
            <a:srgbClr val="F8F9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1371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🎯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400800" y="1920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Promotion Paradox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675120" y="2377440"/>
            <a:ext cx="1828800" cy="2743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2560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Only 2.1% promoted in 5 years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92240" y="30632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Hardest workers rarely promoted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0" y="35661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Long hours don't guarantee rewards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92240" y="40690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Best performers often leave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Modeling Approach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Tested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7373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9659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binary classifier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377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237744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Tree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60604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Interpretable rule-based model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017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301752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324612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 method (best performer)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1188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754880" y="1645920"/>
            <a:ext cx="3931920" cy="2377440"/>
          </a:xfrm>
          <a:prstGeom prst="rect">
            <a:avLst/>
          </a:prstGeom>
          <a:solidFill>
            <a:srgbClr val="FFF9F0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173736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new feature: </a:t>
            </a: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overworked
</a:t>
            </a: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Binary indicator (0/1)
• Threshold: &gt;175 hours/month
• Captures excessive workload
</a:t>
            </a: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Removed to prevent data leakage:
</a:t>
            </a: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satisfaction_level
• average_monthly_hours
</a:t>
            </a:r>
            <a:r>
              <a:rPr lang="en-US" sz="1200" i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Rationale: </a:t>
            </a:r>
            <a:r>
              <a:rPr lang="en-US" sz="11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may not be available for prediction in real deployment scenarios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Split: 75% Training / 25% Testing  •  Cross-validation: 4-fold  •  Optimization: GridSearchCV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Performance Results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34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Champion Model: Random Forest (after feature engineering)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2743200" cy="41148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91840" y="1783080"/>
            <a:ext cx="1005840" cy="41148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89120" y="1783080"/>
            <a:ext cx="1005840" cy="41148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0" y="1783080"/>
            <a:ext cx="1005840" cy="41148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0" y="1783080"/>
            <a:ext cx="1005840" cy="41148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80960" y="1783080"/>
            <a:ext cx="1005840" cy="41148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194560"/>
            <a:ext cx="2743200" cy="411480"/>
          </a:xfrm>
          <a:prstGeom prst="rect">
            <a:avLst/>
          </a:prstGeom>
          <a:solidFill>
            <a:srgbClr val="F9F9F9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0" y="2194560"/>
            <a:ext cx="1005840" cy="411480"/>
          </a:xfrm>
          <a:prstGeom prst="rect">
            <a:avLst/>
          </a:prstGeom>
          <a:solidFill>
            <a:srgbClr val="F9F9F9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82.0%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0" y="2194560"/>
            <a:ext cx="1005840" cy="411480"/>
          </a:xfrm>
          <a:prstGeom prst="rect">
            <a:avLst/>
          </a:prstGeom>
          <a:solidFill>
            <a:srgbClr val="F9F9F9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79.0%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0" y="2194560"/>
            <a:ext cx="1005840" cy="411480"/>
          </a:xfrm>
          <a:prstGeom prst="rect">
            <a:avLst/>
          </a:prstGeom>
          <a:solidFill>
            <a:srgbClr val="F9F9F9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82.0%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0" y="2194560"/>
            <a:ext cx="1005840" cy="411480"/>
          </a:xfrm>
          <a:prstGeom prst="rect">
            <a:avLst/>
          </a:prstGeom>
          <a:solidFill>
            <a:srgbClr val="F9F9F9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80.0%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680960" y="2194560"/>
            <a:ext cx="1005840" cy="411480"/>
          </a:xfrm>
          <a:prstGeom prst="rect">
            <a:avLst/>
          </a:prstGeom>
          <a:solidFill>
            <a:srgbClr val="F9F9F9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606040"/>
            <a:ext cx="274320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Tree (Round 1)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91840" y="2606040"/>
            <a:ext cx="100584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97.2%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89120" y="2606040"/>
            <a:ext cx="100584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91.5%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0" y="2606040"/>
            <a:ext cx="100584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91.7%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83680" y="2606040"/>
            <a:ext cx="100584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91.6%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680960" y="2606040"/>
            <a:ext cx="100584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96.9%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3017520"/>
            <a:ext cx="2743200" cy="411480"/>
          </a:xfrm>
          <a:prstGeom prst="rect">
            <a:avLst/>
          </a:prstGeom>
          <a:solidFill>
            <a:srgbClr val="F9F9F9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(Round 1)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91840" y="3017520"/>
            <a:ext cx="1005840" cy="411480"/>
          </a:xfrm>
          <a:prstGeom prst="rect">
            <a:avLst/>
          </a:prstGeom>
          <a:solidFill>
            <a:srgbClr val="F9F9F9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98.0%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389120" y="3017520"/>
            <a:ext cx="1005840" cy="411480"/>
          </a:xfrm>
          <a:prstGeom prst="rect">
            <a:avLst/>
          </a:prstGeom>
          <a:solidFill>
            <a:srgbClr val="F9F9F9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95.0%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0" y="3017520"/>
            <a:ext cx="1005840" cy="411480"/>
          </a:xfrm>
          <a:prstGeom prst="rect">
            <a:avLst/>
          </a:prstGeom>
          <a:solidFill>
            <a:srgbClr val="F9F9F9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91.6%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83680" y="3017520"/>
            <a:ext cx="1005840" cy="411480"/>
          </a:xfrm>
          <a:prstGeom prst="rect">
            <a:avLst/>
          </a:prstGeom>
          <a:solidFill>
            <a:srgbClr val="F9F9F9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93.2%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680960" y="3017520"/>
            <a:ext cx="1005840" cy="411480"/>
          </a:xfrm>
          <a:prstGeom prst="rect">
            <a:avLst/>
          </a:prstGeom>
          <a:solidFill>
            <a:srgbClr val="F9F9F9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98.0%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3429000"/>
            <a:ext cx="274320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Tree (Round 2)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91840" y="3429000"/>
            <a:ext cx="100584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95.9%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389120" y="3429000"/>
            <a:ext cx="100584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85.7%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0" y="3429000"/>
            <a:ext cx="100584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90.4%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83680" y="3429000"/>
            <a:ext cx="100584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87.9%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680960" y="3429000"/>
            <a:ext cx="100584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95.9%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3840480"/>
            <a:ext cx="2743200" cy="411480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(Round 2) ✓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291840" y="3840480"/>
            <a:ext cx="1005840" cy="411480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96.2%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389120" y="3840480"/>
            <a:ext cx="1005840" cy="411480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87.0%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86400" y="3840480"/>
            <a:ext cx="1005840" cy="411480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90.4%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583680" y="3840480"/>
            <a:ext cx="1005840" cy="411480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88.7%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680960" y="3840480"/>
            <a:ext cx="1005840" cy="411480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96.5%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" y="4297680"/>
            <a:ext cx="8229600" cy="731520"/>
          </a:xfrm>
          <a:prstGeom prst="rect">
            <a:avLst/>
          </a:prstGeom>
          <a:solidFill>
            <a:srgbClr val="FFF3E0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43434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Takeaway: </a:t>
            </a: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Random Forest model achieves 96.2% accuracy on test data, successfully predicting employee turnover while maintaining strong precision (87%) and recall (90.4%). The model is production-ready.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Drives Employee Turnover?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658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Predictive Features (Random Forest Model)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4401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Evaluation Score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0" y="1485900"/>
            <a:ext cx="5486400" cy="27432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0" y="1485900"/>
            <a:ext cx="5486400" cy="274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8672732" y="1463040"/>
            <a:ext cx="62390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9888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of Projects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2034540"/>
            <a:ext cx="5486400" cy="27432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0" y="2034540"/>
            <a:ext cx="5047488" cy="274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8247888" y="2009922"/>
            <a:ext cx="530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5374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Tenure (Years)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0" y="2583180"/>
            <a:ext cx="5486400" cy="27432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4" name="Shape 12"/>
          <p:cNvSpPr/>
          <p:nvPr/>
        </p:nvSpPr>
        <p:spPr>
          <a:xfrm>
            <a:off x="3200400" y="2583180"/>
            <a:ext cx="3456432" cy="2743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6748272" y="2537460"/>
            <a:ext cx="61089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0861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Overworked (&gt;175 hrs)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00400" y="3131820"/>
            <a:ext cx="5486400" cy="27432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0" y="3131820"/>
            <a:ext cx="2249424" cy="2743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5541264" y="3086100"/>
            <a:ext cx="5852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6347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00400" y="3680460"/>
            <a:ext cx="5486400" cy="27432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2" name="Shape 20"/>
          <p:cNvSpPr/>
          <p:nvPr/>
        </p:nvSpPr>
        <p:spPr>
          <a:xfrm>
            <a:off x="3200400" y="3680460"/>
            <a:ext cx="438912" cy="2743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3730752" y="36347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1833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Salary Level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00400" y="4229100"/>
            <a:ext cx="5486400" cy="27432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6" name="Shape 24"/>
          <p:cNvSpPr/>
          <p:nvPr/>
        </p:nvSpPr>
        <p:spPr>
          <a:xfrm>
            <a:off x="3200400" y="4229100"/>
            <a:ext cx="274320" cy="2743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7" name="Text 25"/>
          <p:cNvSpPr/>
          <p:nvPr/>
        </p:nvSpPr>
        <p:spPr>
          <a:xfrm>
            <a:off x="3566160" y="41833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547382"/>
            <a:ext cx="8229600" cy="548640"/>
          </a:xfrm>
          <a:prstGeom prst="rect">
            <a:avLst/>
          </a:prstGeom>
          <a:solidFill>
            <a:srgbClr val="F3E5F5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68454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Performance evaluations and project load are the strongest signals. Employees with high workloads but poor work-life balance are at greatest risk of leaving.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Recommendations for HR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Evidence-Based Actions to Improve Retention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114800" cy="1554480"/>
          </a:xfrm>
          <a:prstGeom prst="rect">
            <a:avLst/>
          </a:prstGeom>
          <a:solidFill>
            <a:srgbClr val="FAFAFA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0020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600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16459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Project Workload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Limit employees to maximum 5 projects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Monitor and redistribute if approaching limit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6517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All employees with 7 projects left this is a critical threshold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00600" y="1463040"/>
            <a:ext cx="4114800" cy="1554480"/>
          </a:xfrm>
          <a:prstGeom prst="rect">
            <a:avLst/>
          </a:prstGeom>
          <a:solidFill>
            <a:srgbClr val="FAFAFA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0" y="160020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600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⏰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440680" y="16459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 Overwork Culture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83480" y="21031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Set realistic hour expectations (175 hrs/month max)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83480" y="23774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 overtime policies or compensation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83480" y="26517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Track and reward efficiency, not just hours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291840"/>
            <a:ext cx="4114800" cy="1554480"/>
          </a:xfrm>
          <a:prstGeom prst="rect">
            <a:avLst/>
          </a:prstGeom>
          <a:solidFill>
            <a:srgbClr val="FAFAFA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342900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3429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🎓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097280" y="3474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 High Performers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39319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Target 4-year employees with retention programs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42062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Increase promotion rate (currently only 2.1%)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44805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Create clear advancement pathways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3291840"/>
            <a:ext cx="4114800" cy="1554480"/>
          </a:xfrm>
          <a:prstGeom prst="rect">
            <a:avLst/>
          </a:prstGeom>
          <a:solidFill>
            <a:srgbClr val="FAFAFA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37760" y="342900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3429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440680" y="3474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Feedback Culture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983480" y="39319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Align evaluations with satisfaction levels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83480" y="42062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Regular check-ins for high-performing employees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83480" y="44805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Address dissatisfaction before it leads to turnover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Technical Skills Demonstrated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743200" cy="1737360"/>
          </a:xfrm>
          <a:prstGeom prst="rect">
            <a:avLst/>
          </a:prstGeom>
          <a:solidFill>
            <a:srgbClr val="F8F9F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2743200" cy="4114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6187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Analysis &amp; Visualization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7373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Python (pandas, numpy)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202996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Matplotlib &amp; Seaborn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232257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Exploratory Data Analysis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61518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Statistical Analysis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55848" y="1188720"/>
            <a:ext cx="2743200" cy="1737360"/>
          </a:xfrm>
          <a:prstGeom prst="rect">
            <a:avLst/>
          </a:prstGeom>
          <a:solidFill>
            <a:srgbClr val="F8F9F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55848" y="1188720"/>
            <a:ext cx="2743200" cy="4114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3447288" y="126187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93008" y="17373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Scikit-learn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93008" y="202996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XGBoost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93008" y="232257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GridSearchCV Optimization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93008" y="261518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Cross-validation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54496" y="1188720"/>
            <a:ext cx="2743200" cy="1737360"/>
          </a:xfrm>
          <a:prstGeom prst="rect">
            <a:avLst/>
          </a:prstGeom>
          <a:solidFill>
            <a:srgbClr val="F8F9F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54496" y="1188720"/>
            <a:ext cx="2743200" cy="4114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6345936" y="126187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Evaluation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91656" y="17373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Confusion Matrix Analysis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91656" y="202996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Precision, Recall, F1-Score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91656" y="232257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ROC-AUC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91656" y="261518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Feature Importance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200400"/>
            <a:ext cx="2743200" cy="1737360"/>
          </a:xfrm>
          <a:prstGeom prst="rect">
            <a:avLst/>
          </a:prstGeom>
          <a:solidFill>
            <a:srgbClr val="F8F9F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200400"/>
            <a:ext cx="2743200" cy="4114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2735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Engineering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4360" y="37490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Data Cleaning &amp; Preprocessing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4360" y="404164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Feature Engineering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94360" y="433425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Handling Duplicates &amp; Outliers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94360" y="462686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Encoding Categorical Variables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355848" y="3200400"/>
            <a:ext cx="2743200" cy="1737360"/>
          </a:xfrm>
          <a:prstGeom prst="rect">
            <a:avLst/>
          </a:prstGeom>
          <a:solidFill>
            <a:srgbClr val="F8F9F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55848" y="3200400"/>
            <a:ext cx="2743200" cy="4114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3" name="Text 31"/>
          <p:cNvSpPr/>
          <p:nvPr/>
        </p:nvSpPr>
        <p:spPr>
          <a:xfrm>
            <a:off x="3447288" y="32735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Intelligence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493008" y="37490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Stakeholder Communication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493008" y="404164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Data-Driven Recommendations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493008" y="433425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Insight Generation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493008" y="462686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Strategic Planning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54496" y="3200400"/>
            <a:ext cx="2743200" cy="1737360"/>
          </a:xfrm>
          <a:prstGeom prst="rect">
            <a:avLst/>
          </a:prstGeom>
          <a:solidFill>
            <a:srgbClr val="F8F9F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54496" y="3200400"/>
            <a:ext cx="2743200" cy="4114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0" name="Text 38"/>
          <p:cNvSpPr/>
          <p:nvPr/>
        </p:nvSpPr>
        <p:spPr>
          <a:xfrm>
            <a:off x="6345936" y="32735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&amp; Technologies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391656" y="37490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Jupyter Notebooks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391656" y="404164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Git/Version Control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391656" y="433425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Model Serialization (pickle)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391656" y="462686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Documentation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Next Steps &amp; Expected Impact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Next Steps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74320" cy="2743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719072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model in production environment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274320" cy="2743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148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176272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monthly risk reports for HR team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606040"/>
            <a:ext cx="274320" cy="2743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606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2633472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monitoring dashboard for real-time insights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063240"/>
            <a:ext cx="274320" cy="2743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063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3090672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Conduct A/B testing on intervention strategies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274320" cy="2743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520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3547872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feedback and retrain model quarterly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274320" cy="2743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977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4005072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 4-year tenure satisfaction dip further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0" y="1188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Business Impact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754880" y="1691640"/>
            <a:ext cx="3931920" cy="548640"/>
          </a:xfrm>
          <a:prstGeom prst="rect">
            <a:avLst/>
          </a:prstGeom>
          <a:solidFill>
            <a:srgbClr val="E3F2FD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📉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349240" y="1783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Reduction in Turnover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06640" y="17830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20-30%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754880" y="2350008"/>
            <a:ext cx="3931920" cy="548640"/>
          </a:xfrm>
          <a:prstGeom prst="rect">
            <a:avLst/>
          </a:prstGeom>
          <a:solidFill>
            <a:srgbClr val="F1F8E9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24414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349240" y="244144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Savings/Year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406640" y="244144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$500K+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754880" y="3008376"/>
            <a:ext cx="3931920" cy="548640"/>
          </a:xfrm>
          <a:prstGeom prst="rect">
            <a:avLst/>
          </a:prstGeom>
          <a:solidFill>
            <a:srgbClr val="E3F2FD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30998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349240" y="3099816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Improvement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406640" y="3099816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5-7%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754880" y="3666744"/>
            <a:ext cx="3931920" cy="548640"/>
          </a:xfrm>
          <a:prstGeom prst="rect">
            <a:avLst/>
          </a:prstGeom>
          <a:solidFill>
            <a:srgbClr val="F1F8E9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37581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5349240" y="3758184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Efficiency Gain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406640" y="3758184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40%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FFF9E6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" y="4663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Model achieves 96.2% accuracy without relying on satisfaction scores, making it practical for real-world deployment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3200400" y="2926080"/>
            <a:ext cx="27432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Repository: </a:t>
            </a:r>
            <a:r>
              <a:rPr lang="en-US" sz="1400" u="sng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</a:t>
            </a:r>
            <a:r>
              <a:rPr lang="en-US" sz="1400" u="sng" dirty="0" err="1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</a:t>
            </a:r>
            <a:r>
              <a:rPr lang="en-US" sz="1400" u="sng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/Anees-</a:t>
            </a:r>
            <a:r>
              <a:rPr lang="en-US" sz="1400" u="sng" dirty="0" err="1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</a:t>
            </a:r>
            <a:r>
              <a:rPr lang="en-US" sz="1400" u="sng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-Mujtaba/</a:t>
            </a:r>
            <a:r>
              <a:rPr lang="en-US" sz="1400" u="sng" dirty="0" err="1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salifort</a:t>
            </a:r>
            <a:r>
              <a:rPr lang="en-US" sz="1400" u="sng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400" u="sng" dirty="0" err="1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</a:t>
            </a:r>
            <a:r>
              <a:rPr lang="en-US" sz="1400" u="sng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-analytics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1029</Words>
  <Application>Microsoft Macintosh PowerPoint</Application>
  <PresentationFormat>On-screen Show (16:9)</PresentationFormat>
  <Paragraphs>227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Arial Black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Salifort Motors HR Analytics</dc:title>
  <dc:subject>Employee Retention Prediction</dc:subject>
  <dc:creator>Data Analytics Portfolio</dc:creator>
  <cp:lastModifiedBy>Admin</cp:lastModifiedBy>
  <cp:revision>2</cp:revision>
  <dcterms:created xsi:type="dcterms:W3CDTF">2026-02-02T14:09:33Z</dcterms:created>
  <dcterms:modified xsi:type="dcterms:W3CDTF">2026-02-02T18:02:35Z</dcterms:modified>
</cp:coreProperties>
</file>